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77" r:id="rId8"/>
    <p:sldId id="278" r:id="rId9"/>
    <p:sldId id="271" r:id="rId10"/>
    <p:sldId id="272" r:id="rId11"/>
    <p:sldId id="273" r:id="rId12"/>
    <p:sldId id="274" r:id="rId13"/>
    <p:sldId id="275" r:id="rId14"/>
    <p:sldId id="279" r:id="rId15"/>
    <p:sldId id="269" r:id="rId16"/>
    <p:sldId id="270" r:id="rId17"/>
    <p:sldId id="268" r:id="rId18"/>
    <p:sldId id="276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71C"/>
    <a:srgbClr val="E0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deeppanga0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sandeep-panga-54427a3bb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7760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1" dirty="0"/>
              <a:t>Financial Data Analysis</a:t>
            </a:r>
            <a:r>
              <a:rPr lang="en-IN" sz="3200" b="1" i="0" u="none" strike="noStrike" cap="none" dirty="0">
                <a:solidFill>
                  <a:srgbClr val="000000"/>
                </a:solidFill>
                <a:sym typeface="Arial"/>
              </a:rPr>
              <a:t> </a:t>
            </a:r>
            <a:endParaRPr sz="320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F7A3F-1E40-A0BB-6433-EBAC8B3EE45C}"/>
              </a:ext>
            </a:extLst>
          </p:cNvPr>
          <p:cNvSpPr txBox="1"/>
          <p:nvPr/>
        </p:nvSpPr>
        <p:spPr>
          <a:xfrm>
            <a:off x="9281652" y="5142271"/>
            <a:ext cx="2281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DF17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. Sandeep Yadav</a:t>
            </a:r>
          </a:p>
          <a:p>
            <a:r>
              <a:rPr lang="en-IN" sz="1800" b="1" dirty="0">
                <a:solidFill>
                  <a:srgbClr val="DF17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: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514</a:t>
            </a:r>
            <a:endParaRPr lang="en-IN" sz="1800" b="1" dirty="0">
              <a:solidFill>
                <a:srgbClr val="DF17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solidFill>
                <a:srgbClr val="DF17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68985" y="1000469"/>
            <a:ext cx="10117001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a graduate in  B. Tech (Artificial Intelligence &amp; Data Science) from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 nanak institutions.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As a training I joined in  innomatics to up-skilling myself in data-science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Science: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interested in analyzing data and solving real-world problems and to build my career in Data Science and modern technologies </a:t>
            </a:r>
          </a:p>
          <a:p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https://github.com/sandeeppanga07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4"/>
              </a:rPr>
              <a:t>https://www.linkedin.com/in/sandeep-panga-54427a3bb/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me: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238865"/>
            <a:ext cx="10515600" cy="503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>
              <a:buSzPts val="2400"/>
            </a:pPr>
            <a:r>
              <a:rPr lang="en-IN" sz="2400" b="1" dirty="0"/>
              <a:t>Business Problem</a:t>
            </a:r>
          </a:p>
          <a:p>
            <a:pPr lvl="0" indent="-431800">
              <a:buSzPts val="2400"/>
            </a:pPr>
            <a:r>
              <a:rPr lang="en-IN" sz="2400" b="1" dirty="0"/>
              <a:t>Problem Statement</a:t>
            </a:r>
          </a:p>
          <a:p>
            <a:pPr lvl="0" indent="-431800">
              <a:buSzPts val="2400"/>
            </a:pPr>
            <a:r>
              <a:rPr lang="en-IN" sz="2400" b="1" dirty="0"/>
              <a:t>Objectives</a:t>
            </a:r>
          </a:p>
          <a:p>
            <a:pPr lvl="0" indent="-431800">
              <a:buSzPts val="2400"/>
            </a:pPr>
            <a:r>
              <a:rPr lang="en-IN" sz="2400" b="1" dirty="0"/>
              <a:t>Tables &amp; Columns</a:t>
            </a:r>
          </a:p>
          <a:p>
            <a:pPr lvl="0" indent="-431800">
              <a:buSzPts val="2400"/>
            </a:pPr>
            <a:r>
              <a:rPr lang="en-IN" sz="2400" b="1" dirty="0"/>
              <a:t>Data Modelling</a:t>
            </a:r>
          </a:p>
          <a:p>
            <a:pPr lvl="0" indent="-431800">
              <a:buSzPts val="2400"/>
            </a:pPr>
            <a:r>
              <a:rPr lang="en-IN" sz="2400" b="1" dirty="0"/>
              <a:t>Dashboards</a:t>
            </a:r>
          </a:p>
          <a:p>
            <a:pPr lvl="0" indent="-431800">
              <a:buSzPts val="2400"/>
            </a:pPr>
            <a:r>
              <a:rPr lang="en-IN" sz="2400" b="1" dirty="0"/>
              <a:t>Key Insights</a:t>
            </a:r>
          </a:p>
          <a:p>
            <a:pPr lvl="0" indent="-431800">
              <a:buSzPts val="2400"/>
            </a:pPr>
            <a:r>
              <a:rPr lang="en-IN" sz="2400" b="1" dirty="0"/>
              <a:t>Conclusion</a:t>
            </a:r>
          </a:p>
          <a:p>
            <a:pPr lvl="0" indent="-431800">
              <a:buSzPts val="2400"/>
            </a:pPr>
            <a:r>
              <a:rPr lang="en-IN" sz="2400" b="1" dirty="0"/>
              <a:t>Recommendations</a:t>
            </a:r>
          </a:p>
          <a:p>
            <a:pPr lvl="0" indent="-431800">
              <a:buSzPts val="2400"/>
            </a:pPr>
            <a:r>
              <a:rPr lang="en-IN" sz="2400" b="1" dirty="0"/>
              <a:t>Q &amp; A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53A1-AC9A-9A6F-B7B9-A5A0662D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A0566-C185-1B35-932E-2DB01B2ED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Financial Performance Analysis of Public Companies</a:t>
            </a:r>
          </a:p>
          <a:p>
            <a:r>
              <a:rPr lang="en-IN" sz="2400" dirty="0"/>
              <a:t>Organizations, investors, and financial analysts need to evaluate the financial</a:t>
            </a:r>
          </a:p>
          <a:p>
            <a:pPr marL="114300" indent="0">
              <a:buNone/>
            </a:pPr>
            <a:r>
              <a:rPr lang="en-IN" sz="2400" dirty="0"/>
              <a:t>      health and performance of companies over time. However, financial  </a:t>
            </a:r>
          </a:p>
          <a:p>
            <a:pPr marL="114300" indent="0">
              <a:buNone/>
            </a:pPr>
            <a:r>
              <a:rPr lang="en-IN" sz="2400" dirty="0"/>
              <a:t>      information is spread across multiple statements such as the </a:t>
            </a:r>
            <a:r>
              <a:rPr lang="en-IN" sz="2400" b="1" dirty="0"/>
              <a:t>Income Statement,</a:t>
            </a:r>
          </a:p>
          <a:p>
            <a:pPr marL="114300" indent="0">
              <a:buNone/>
            </a:pPr>
            <a:r>
              <a:rPr lang="en-IN" sz="2400" b="1" dirty="0"/>
              <a:t>      Balance Sheet, and Cash Flow Statement</a:t>
            </a:r>
            <a:r>
              <a:rPr lang="en-IN" sz="2400" dirty="0"/>
              <a:t>, making it difficult to compare companies</a:t>
            </a:r>
          </a:p>
          <a:p>
            <a:pPr marL="114300" indent="0">
              <a:buNone/>
            </a:pPr>
            <a:r>
              <a:rPr lang="en-IN" sz="2400" dirty="0"/>
              <a:t>      and identify trends efficiently.</a:t>
            </a:r>
          </a:p>
          <a:p>
            <a:r>
              <a:rPr lang="en-IN" sz="2400" dirty="0"/>
              <a:t>Manual analysis of these large financial datasets is time-consuming and may not reveal</a:t>
            </a:r>
          </a:p>
          <a:p>
            <a:pPr marL="114300" indent="0">
              <a:buNone/>
            </a:pPr>
            <a:r>
              <a:rPr lang="en-IN" sz="2400" dirty="0"/>
              <a:t>      important insights such as revenue growth, profitability, liquidity, debt levels, and cash</a:t>
            </a:r>
          </a:p>
          <a:p>
            <a:pPr marL="114300" indent="0">
              <a:buNone/>
            </a:pPr>
            <a:r>
              <a:rPr lang="en-IN" sz="2400" dirty="0"/>
              <a:t>      flow performance.</a:t>
            </a:r>
          </a:p>
          <a:p>
            <a:r>
              <a:rPr lang="en-IN" sz="2400" dirty="0"/>
              <a:t>Therefore, there is a need for an interactive Business Intelligence solution that</a:t>
            </a:r>
          </a:p>
          <a:p>
            <a:pPr marL="114300" indent="0">
              <a:buNone/>
            </a:pPr>
            <a:r>
              <a:rPr lang="en-IN" sz="2400" dirty="0"/>
              <a:t>      integrates financial data, transforms it into a structured model, and provides visual</a:t>
            </a:r>
          </a:p>
          <a:p>
            <a:pPr marL="114300" indent="0">
              <a:buNone/>
            </a:pPr>
            <a:r>
              <a:rPr lang="en-IN" sz="2400" dirty="0"/>
              <a:t>      dashboards for informed decision-making.</a:t>
            </a:r>
          </a:p>
          <a:p>
            <a:pPr marL="114300" indent="0" algn="just">
              <a:buSzPct val="12500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98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C5A3-1D1F-BFF9-BC10-EA2F6708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C3AC1-2F0C-2F52-1DF2-DAD8EA217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objective of this project is to analyze financial statement data of multiple companies and develop an interactive </a:t>
            </a:r>
            <a:r>
              <a:rPr lang="en-IN" sz="2400" b="1" dirty="0"/>
              <a:t>Power BI dashboard</a:t>
            </a:r>
            <a:r>
              <a:rPr lang="en-IN" sz="2400" dirty="0"/>
              <a:t> that enables users to:</a:t>
            </a:r>
          </a:p>
          <a:p>
            <a:r>
              <a:rPr lang="en-IN" sz="2400" dirty="0"/>
              <a:t>Monitor company financial performance over time. </a:t>
            </a:r>
          </a:p>
          <a:p>
            <a:r>
              <a:rPr lang="en-IN" sz="2400" dirty="0"/>
              <a:t>Compare revenue, profitability, assets, liabilities, and cash flow across companies. </a:t>
            </a:r>
          </a:p>
          <a:p>
            <a:r>
              <a:rPr lang="en-IN" sz="2400" dirty="0"/>
              <a:t>Identify top-performing and underperforming companies. </a:t>
            </a:r>
          </a:p>
          <a:p>
            <a:r>
              <a:rPr lang="en-IN" sz="2400" dirty="0"/>
              <a:t>Analyze year-over-year financial growth and trends. </a:t>
            </a:r>
          </a:p>
          <a:p>
            <a:r>
              <a:rPr lang="en-IN" sz="2400" dirty="0"/>
              <a:t>Support investment and business decisions using visual analytics.</a:t>
            </a:r>
          </a:p>
          <a:p>
            <a:pPr marL="114300" indent="0" algn="just">
              <a:buSzPct val="12500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61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6A03-A196-9D6D-2E85-39B27BA0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F095-BC25-B3DC-FD83-8AFD3CB33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SzPct val="125000"/>
            </a:pPr>
            <a:r>
              <a:rPr lang="en-IN" sz="2400" dirty="0"/>
              <a:t>Analyze annual and quarterly financial statements. </a:t>
            </a:r>
          </a:p>
          <a:p>
            <a:pPr>
              <a:buSzPct val="125000"/>
            </a:pPr>
            <a:r>
              <a:rPr lang="en-IN" sz="2400" dirty="0"/>
              <a:t>Compare financial performance across multiple companies.</a:t>
            </a:r>
          </a:p>
          <a:p>
            <a:pPr>
              <a:buSzPct val="125000"/>
            </a:pPr>
            <a:r>
              <a:rPr lang="en-IN" sz="2400" dirty="0"/>
              <a:t>Measure profitability using Revenue, Gross Profit, Operating Income, and Net Income.</a:t>
            </a:r>
          </a:p>
          <a:p>
            <a:pPr>
              <a:buSzPct val="125000"/>
            </a:pPr>
            <a:r>
              <a:rPr lang="en-IN" sz="2400" dirty="0"/>
              <a:t>Evaluate financial position using Assets, Liabilities, and Shareholder Equity. </a:t>
            </a:r>
          </a:p>
          <a:p>
            <a:pPr>
              <a:buSzPct val="125000"/>
            </a:pPr>
            <a:r>
              <a:rPr lang="en-IN" sz="2400" dirty="0"/>
              <a:t>Assess cash flow performance and liquidity. </a:t>
            </a:r>
          </a:p>
          <a:p>
            <a:pPr>
              <a:buSzPct val="125000"/>
            </a:pPr>
            <a:r>
              <a:rPr lang="en-IN" sz="2400" dirty="0"/>
              <a:t>Track financial trends over multiple reporting periods. </a:t>
            </a:r>
          </a:p>
          <a:p>
            <a:pPr>
              <a:buSzPct val="125000"/>
            </a:pPr>
            <a:r>
              <a:rPr lang="en-IN" sz="2400" dirty="0"/>
              <a:t>Develop interactive dashboards for business users and investors.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9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4881-64BC-01CE-8B5B-E0F5FB26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904568"/>
          </a:xfrm>
        </p:spPr>
        <p:txBody>
          <a:bodyPr/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9B8A20-6F42-B141-EAA8-AC94ECA7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000125"/>
            <a:ext cx="10372725" cy="504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6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25EB-A06B-8A76-8013-00B4EE78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E48C-EC0C-5AB2-C3DE-3E497D0EF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4769"/>
            <a:ext cx="10515600" cy="4351338"/>
          </a:xfrm>
        </p:spPr>
        <p:txBody>
          <a:bodyPr>
            <a:normAutofit/>
          </a:bodyPr>
          <a:lstStyle/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Stock</a:t>
            </a:r>
            <a:r>
              <a:rPr lang="en-IN" sz="2400" dirty="0"/>
              <a:t>: Company stock symbol  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End Date</a:t>
            </a:r>
            <a:r>
              <a:rPr lang="en-IN" sz="2400" dirty="0"/>
              <a:t>: Reporting period end date.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Investments</a:t>
            </a:r>
            <a:r>
              <a:rPr lang="en-IN" sz="2400" dirty="0"/>
              <a:t>: Cash used for investments.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Free Cash Flow</a:t>
            </a:r>
            <a:r>
              <a:rPr lang="en-IN" sz="2400" dirty="0"/>
              <a:t>: Cash remaining after operating expenses and capital expenditures (if available in your dataset).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Inventory</a:t>
            </a:r>
            <a:r>
              <a:rPr lang="en-IN" sz="2400" dirty="0"/>
              <a:t>:  Value of goods available for sale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Goodwill</a:t>
            </a:r>
            <a:r>
              <a:rPr lang="en-IN" sz="2400" dirty="0"/>
              <a:t>: Intangible asset representing brand value or acquisitions</a:t>
            </a:r>
          </a:p>
          <a:p>
            <a:pPr>
              <a:buSzPct val="125000"/>
              <a:buFont typeface="Arial" panose="020B0604020202020204" pitchFamily="34" charset="0"/>
              <a:buChar char="•"/>
            </a:pPr>
            <a:r>
              <a:rPr lang="en-IN" sz="2400" b="1" dirty="0"/>
              <a:t>Long Term Debt</a:t>
            </a:r>
            <a:r>
              <a:rPr lang="en-IN" sz="2400" dirty="0"/>
              <a:t>: Debt payable after one year.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20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50C5B9-D906-2040-43B6-E3DE4089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04825"/>
            <a:ext cx="102870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21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85DB77-1CF4-7BD0-DAD7-8D2C57A8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594360"/>
            <a:ext cx="9482328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59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79D92-B558-933A-768A-4581F5109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785443"/>
            <a:ext cx="9354856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8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66D31C-3278-91F4-3959-58CDECD5F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780680"/>
            <a:ext cx="9316750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5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2AA1A-4995-7E0B-87F3-72EF7CBD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756864"/>
            <a:ext cx="943106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24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3F336-F4F3-9344-5CF8-A9EB50BF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794970"/>
            <a:ext cx="9412013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14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4068-0D63-162A-A602-CDBBE33C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6F372-A790-8C21-0A89-A78B4375B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7524"/>
            <a:ext cx="10515600" cy="459396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Revenue Performance</a:t>
            </a:r>
          </a:p>
          <a:p>
            <a:r>
              <a:rPr lang="en-IN" sz="2000" dirty="0"/>
              <a:t>Compare annual and quarterly revenue across companies. </a:t>
            </a:r>
          </a:p>
          <a:p>
            <a:pPr marL="11430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Profitability Analysis</a:t>
            </a:r>
          </a:p>
          <a:p>
            <a:r>
              <a:rPr lang="en-IN" sz="2000" dirty="0"/>
              <a:t>Identify companies with the highest net income.   </a:t>
            </a:r>
          </a:p>
          <a:p>
            <a:pPr marL="114300" indent="0">
              <a:buNone/>
            </a:pPr>
            <a:r>
              <a:rPr lang="en-IN" sz="2000" b="1" dirty="0"/>
              <a:t>Financial Position</a:t>
            </a:r>
          </a:p>
          <a:p>
            <a:r>
              <a:rPr lang="en-IN" sz="2000" dirty="0"/>
              <a:t>Compare total assets, liabilities, and shareholder equit</a:t>
            </a:r>
          </a:p>
          <a:p>
            <a:pPr marL="114300" indent="0">
              <a:buNone/>
            </a:pPr>
            <a:r>
              <a:rPr lang="en-IN" sz="2000" b="1" dirty="0"/>
              <a:t>Cash Flow Performance</a:t>
            </a:r>
          </a:p>
          <a:p>
            <a:r>
              <a:rPr lang="en-IN" sz="2000" dirty="0"/>
              <a:t>Compare operating, investing, and financing cash flows. </a:t>
            </a:r>
          </a:p>
          <a:p>
            <a:pPr marL="114300" indent="0">
              <a:buNone/>
            </a:pPr>
            <a:r>
              <a:rPr lang="en-IN" sz="2000" b="1" dirty="0"/>
              <a:t>Comparative Financial Analysis</a:t>
            </a:r>
          </a:p>
          <a:p>
            <a:r>
              <a:rPr lang="en-IN" sz="2000" dirty="0"/>
              <a:t>Compare revenue, net income, assets, and cash flow across companies. </a:t>
            </a:r>
          </a:p>
          <a:p>
            <a:pPr marL="114300" indent="0">
              <a:buNone/>
            </a:pPr>
            <a:endParaRPr lang="en-IN" sz="2000" dirty="0"/>
          </a:p>
          <a:p>
            <a:pPr>
              <a:buSzPct val="125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26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66C1-D607-67C6-3FD9-B0303E99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7372-19EF-151F-01AF-C4AD034D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052" y="1503875"/>
            <a:ext cx="10515600" cy="4351338"/>
          </a:xfrm>
        </p:spPr>
        <p:txBody>
          <a:bodyPr>
            <a:normAutofit/>
          </a:bodyPr>
          <a:lstStyle/>
          <a:p>
            <a:pPr marL="114300" indent="0" algn="just">
              <a:buSzPct val="125000"/>
              <a:buNone/>
            </a:pPr>
            <a:r>
              <a:rPr lang="en-IN" sz="2400" dirty="0"/>
              <a:t>The </a:t>
            </a:r>
            <a:r>
              <a:rPr lang="en-IN" sz="2400" b="1" dirty="0"/>
              <a:t>Financial Data Analysis Dashboard</a:t>
            </a:r>
            <a:r>
              <a:rPr lang="en-IN" sz="2400" dirty="0"/>
              <a:t> developed using </a:t>
            </a:r>
            <a:r>
              <a:rPr lang="en-IN" sz="2400" b="1" dirty="0"/>
              <a:t>Power BI</a:t>
            </a:r>
            <a:r>
              <a:rPr lang="en-IN" sz="2400" dirty="0"/>
              <a:t> successfully</a:t>
            </a:r>
          </a:p>
          <a:p>
            <a:pPr marL="114300" indent="0" algn="just">
              <a:buSzPct val="125000"/>
              <a:buNone/>
            </a:pPr>
            <a:r>
              <a:rPr lang="en-IN" sz="2400" dirty="0"/>
              <a:t> transforms raw financial statement data into meaningful business insights. </a:t>
            </a:r>
          </a:p>
          <a:p>
            <a:pPr marL="114300" indent="0" algn="just">
              <a:buSzPct val="125000"/>
              <a:buNone/>
            </a:pPr>
            <a:r>
              <a:rPr lang="en-IN" sz="2400" dirty="0"/>
              <a:t>By integrating the </a:t>
            </a:r>
            <a:r>
              <a:rPr lang="en-IN" sz="2400" b="1" dirty="0"/>
              <a:t>Company, Income Statement, Balance Sheet, and Cash Flow</a:t>
            </a:r>
          </a:p>
          <a:p>
            <a:pPr marL="114300" indent="0" algn="just">
              <a:buSzPct val="125000"/>
              <a:buNone/>
            </a:pPr>
            <a:r>
              <a:rPr lang="en-IN" sz="2400" b="1" dirty="0"/>
              <a:t> Statement</a:t>
            </a:r>
            <a:r>
              <a:rPr lang="en-IN" sz="2400" dirty="0"/>
              <a:t> datasets, the dashboard provides a comprehensive view of the</a:t>
            </a:r>
          </a:p>
          <a:p>
            <a:pPr marL="114300" indent="0" algn="just">
              <a:buSzPct val="125000"/>
              <a:buNone/>
            </a:pPr>
            <a:r>
              <a:rPr lang="en-IN" sz="2400" dirty="0"/>
              <a:t> financial performance of multiple companies.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095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333C-268C-4E52-A87B-241B174C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394C4-5F3E-D20F-B772-CF85AF52A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>
            <a:noAutofit/>
          </a:bodyPr>
          <a:lstStyle/>
          <a:p>
            <a:pPr>
              <a:buSzPct val="125000"/>
            </a:pPr>
            <a:r>
              <a:rPr lang="en-IN" sz="2000" dirty="0"/>
              <a:t>Improve data quality by regularly validating and cleaning financial data before analysis.</a:t>
            </a:r>
          </a:p>
          <a:p>
            <a:pPr>
              <a:buSzPct val="125000"/>
            </a:pPr>
            <a:r>
              <a:rPr lang="en-IN" sz="2000" dirty="0"/>
              <a:t> Use a centralized data model with proper relationships (Star Schema) to improve dashboard accuracy and performance.</a:t>
            </a:r>
          </a:p>
          <a:p>
            <a:pPr>
              <a:buSzPct val="125000"/>
            </a:pPr>
            <a:r>
              <a:rPr lang="en-IN" sz="2000" dirty="0"/>
              <a:t> Integrate real-time financial data from trusted APIs (e.g., Yahoo Finance, Alpha Vantage) for up-to-date analysis.</a:t>
            </a:r>
          </a:p>
          <a:p>
            <a:pPr>
              <a:buSzPct val="125000"/>
            </a:pPr>
            <a:r>
              <a:rPr lang="en-IN" sz="2000" dirty="0"/>
              <a:t> Include additional financial ratios such as Return on Equity (ROE), Return on Assets (ROA), Current Ratio, and Quick Ratio for deeper insights. </a:t>
            </a:r>
          </a:p>
          <a:p>
            <a:pPr>
              <a:buSzPct val="125000"/>
            </a:pPr>
            <a:r>
              <a:rPr lang="en-IN" sz="2000" dirty="0"/>
              <a:t>Implement forecasting techniques to predict future revenue, profitability, and cash flow trends. </a:t>
            </a:r>
          </a:p>
          <a:p>
            <a:pPr>
              <a:buSzPct val="125000"/>
            </a:pPr>
            <a:r>
              <a:rPr lang="en-IN" sz="2000" dirty="0"/>
              <a:t>Add industry and sector comparisons to benchmark company performance against competitors.</a:t>
            </a:r>
          </a:p>
        </p:txBody>
      </p:sp>
    </p:spTree>
    <p:extLst>
      <p:ext uri="{BB962C8B-B14F-4D97-AF65-F5344CB8AC3E}">
        <p14:creationId xmlns:p14="http://schemas.microsoft.com/office/powerpoint/2010/main" val="1526294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F453F-BA67-3605-55B1-A1A4BA51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1206500"/>
            <a:ext cx="74168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3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4241</TotalTime>
  <Words>695</Words>
  <Application>Microsoft Office PowerPoint</Application>
  <PresentationFormat>Widescreen</PresentationFormat>
  <Paragraphs>87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Lato Black</vt:lpstr>
      <vt:lpstr>Libre Baskerville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Agenda </vt:lpstr>
      <vt:lpstr>Business Problem </vt:lpstr>
      <vt:lpstr>Problem Statement </vt:lpstr>
      <vt:lpstr>Objective</vt:lpstr>
      <vt:lpstr>Table Overview</vt:lpstr>
      <vt:lpstr>Column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  <vt:lpstr>Recommendations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Sandeep kittu</cp:lastModifiedBy>
  <cp:revision>7</cp:revision>
  <dcterms:created xsi:type="dcterms:W3CDTF">2021-02-16T05:19:01Z</dcterms:created>
  <dcterms:modified xsi:type="dcterms:W3CDTF">2026-07-14T06:13:48Z</dcterms:modified>
</cp:coreProperties>
</file>